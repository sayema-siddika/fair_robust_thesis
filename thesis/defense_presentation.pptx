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9488"/>
            </a:gs>
            <a:gs pos="100000">
              <a:srgbClr val="06B6D4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Fair and Robust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CCFBF1"/>
                </a:solidFill>
                <a:latin typeface="Segoe UI Light"/>
              </a:defRPr>
            </a:pPr>
            <a:r>
              <a:t>Achieving Perfect Fairness Through Iterative Adaptive Sample Weighting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5F3FC"/>
                </a:solidFill>
                <a:latin typeface="Segoe UI"/>
              </a:defRPr>
            </a:pPr>
            <a:r>
              <a:t>BSc Thesis Defense | December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 Semibold"/>
              </a:defRPr>
            </a:pPr>
            <a:r>
              <a:t>The Fairness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78638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ML systems make high-stakes decisions: loans, hiring, criminal justice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Real-world bias examples: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COMPAS recidivism: 45% false positive rate for African-Americans vs 23% for Caucasians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Amazon hiring: AI rejected female candidates due to historical bias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Challenge: How to achieve fairness without sacrificing accuracy?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 Semibold"/>
              </a:defRPr>
            </a:pPr>
            <a:r>
              <a:t>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78638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RQ1: Can iterative adaptive weighting achieve perfect fairness?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RQ2: What are the trade-offs (accuracy, calibration)?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RQ3: Is it computationally feasible for production?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RQ4: How does the mechanism work?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 Semibold"/>
              </a:defRPr>
            </a:pPr>
            <a:r>
              <a:t>Our Approach: Iterative Adaptive Weighting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78638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Weight formula: w_i = (c_i × r_i + ε)^(1/T)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c_i = confidence (distance from decision boundary)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r_i = correctness (1 if correct, 0 if wrong)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T = temperature (controls concentration)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Counterintuitive: Upweights confident correct predictions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Iterative: Recompute weights after each training iteration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 Semibold"/>
              </a:defRPr>
            </a:pPr>
            <a:r>
              <a:t>Iterative Training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78638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1. Initialize: All weights w_i = 1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2. Train model with current weights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3. Compute confidence c_i and correctness r_i for each sample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4. Update weights: w_i = (c_i × r_i + ε)^(1/T)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5. Repeat until fairness threshold achieved (EO &lt; 0.01)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Typically converges in 4-10 iterations, &lt;2 seconds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 Semibold"/>
              </a:defRPr>
            </a:pPr>
            <a:r>
              <a:t>Key Result: Perfect Fairness Achieved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78638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German Credit Dataset: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✓ Equalized Odds = 0.000 (perfect fairness!)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✓ Demographic Parity = 0.000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✓ First reported perfect fairness on real data (in-processing method)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Adult Income Dataset: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✓ 68.7% reduction in EO violations (0.163 → 0.051)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✓ Competitive with post-processing methods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Fairness Performance Across 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8046720" cy="4937760"/>
          </a:xfrm>
          <a:prstGeom prst="rect">
            <a:avLst/>
          </a:prstGeom>
          <a:solidFill>
            <a:srgbClr val="FFFFFF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airnes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680960" cy="47641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30936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475569"/>
                </a:solidFill>
                <a:latin typeface="Calibri"/>
              </a:defRPr>
            </a:pPr>
            <a:r>
              <a:t>Our method (blue) achieves perfect fairness on German, substantial improvement on Adult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 Semibold"/>
              </a:defRPr>
            </a:pPr>
            <a:r>
              <a:t>Trade-off: Calibration Degradation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78638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Perfect fairness comes at a cost: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German: +388% ECE increase (0.089 → 0.434)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Adult: +756% ECE increase (0.052 → 0.445)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Fundamental tension between fairness and calibration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First systematic quantification for in-processing methods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Acceptable for decision-based apps, problematic for probability-based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Calibration Degradation Visualized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8046720" cy="4937760"/>
          </a:xfrm>
          <a:prstGeom prst="rect">
            <a:avLst/>
          </a:prstGeom>
          <a:solidFill>
            <a:srgbClr val="FFFFFF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liability_dia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680960" cy="30258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30936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475569"/>
                </a:solidFill>
                <a:latin typeface="Calibri"/>
              </a:defRPr>
            </a:pPr>
            <a:r>
              <a:t>Left: Baseline well-calibrated. Right: Our method shows overconfidence at high probabilities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 Semibold"/>
              </a:defRPr>
            </a:pPr>
            <a:r>
              <a:t>Accuracy Trade-off: Minimal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78638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Accuracy degradation is small: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German: -1.8% (0.724 → 0.706)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Adult: -0.9% (0.851 → 0.842)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COMPAS: -0.3% (0.673 → 0.670)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Contradicts belief that perfect fairness requires large accuracy loss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Fairness-accuracy trade-off is mild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 Semibold"/>
              </a:defRPr>
            </a:pPr>
            <a:r>
              <a:t>How Does It Work? Mechanism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78638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Key insight: Exploits confidence asymmetry between groups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Disadvantaged groups have lower confidence even for correct predictions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Weight formula amplifies this via exponent 1/T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Mechanism: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1. Upweight confident correct predictions from disadvantaged group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2. Model 'pays more attention' to these samples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3. Over iterations, TPR/FPR gaps close → fairness achieved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 Semibold"/>
              </a:defRPr>
            </a:pPr>
            <a:r>
              <a:t>Weight Evolution Across Iterations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8046720" cy="4937760"/>
          </a:xfrm>
          <a:prstGeom prst="rect">
            <a:avLst/>
          </a:prstGeom>
          <a:solidFill>
            <a:srgbClr val="FFFFFF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eigh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680960" cy="30268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30936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475569"/>
                </a:solidFill>
                <a:latin typeface="Calibri"/>
              </a:defRPr>
            </a:pPr>
            <a:r>
              <a:t>Iteration 1: uniform. Iteration 5: concentrated on confident correct predictions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 Semibold"/>
              </a:defRPr>
            </a:pPr>
            <a:r>
              <a:t>Computational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78638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Training time: &lt;2 seconds for 32K samples (Adult dataset)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Iterations to convergence: 4-10 (German converges in 4)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Scalability: O(n) linear time complexity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Zero inference overhead: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No test-time modifications needed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Standard model serving infrastructure works unchanged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Simplifies production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 Semibold"/>
              </a:defRPr>
            </a:pPr>
            <a:r>
              <a:t>Limitation: Dataset-Dependent Effectiveness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78638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Results vary across datasets: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✓ German: Perfect fairness (EO = 0.000)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✓ Adult: Substantial improvement (68.7% reduction)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✗ COMPAS: Limited success (14.6% reduction)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Hypothesis: Effectiveness depends on: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Group imbalance structure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Base rate differences between groups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Feature space complexity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 Semibold"/>
              </a:defRPr>
            </a:pPr>
            <a: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78638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1. Severe calibration degradation (+388-756% ECE)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 → Not suitable for probability-based applications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2. Dataset-dependent effectiveness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 → Pilot testing required for each dataset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3. Binary classification with single sensitive attribute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 → Extension to multi-class, intersectional fairness needed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 Semibold"/>
              </a:defRPr>
            </a:pPr>
            <a:r>
              <a:t>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78638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1. Perfect fairness on real-world data (first for in-processing)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2. Fairness-calibration trade-off quantified (+388-756% ECE)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3. Novel interpretable mechanism (confidence × correctness)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4. Zero inference overhead (deployment simplicity)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5. Computational efficiency (&lt;2s training, 4-10 iterations)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6. Open-source implementation (reproducible)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 Semibold"/>
              </a:defRPr>
            </a:pPr>
            <a:r>
              <a:t>Practical Implications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78638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For practitioners: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Simple method (10 lines of code) can achieve SOTA fairness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Zero production overhead makes deployment trivial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Choose based on application: decision-based ✓, probability-based ✗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For fairness research: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Fairness-calibration trade-off is fundamental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Perfect fairness is achievable (not just asymptotic)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• Dataset characteristics matter for method effectiveness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 Semibold"/>
              </a:defRPr>
            </a:pPr>
            <a: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78638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1. Integrated recalibration: Restore calibration post-hoc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2. Extension to neural networks: Deep learning compatibility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3. Intersectional fairness: Multiple sensitive attributes (race × gender)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4. Theoretical analysis: Convergence guarantees, optimality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5. Real-world deployment study: Production validation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 Semibold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78638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Iterative adaptive weighting achieves perfect fairness: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✓ EO = 0.000 on German Credit (first for in-processing)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✓ Minimal accuracy loss (-0.9% to -1.8%)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✓ Zero inference overhead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But at a cost: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✗ Severe calibration degradation (+388-756% ECE)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  ✗ Dataset-dependent effectiveness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▪ Trade-offs are measurable, navigable, and application-dependent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/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Code &amp; Thesis: github.com/[your-username]/fair-robust-thesis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